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7" r:id="rId3"/>
    <p:sldId id="258" r:id="rId4"/>
    <p:sldId id="259" r:id="rId5"/>
    <p:sldId id="260" r:id="rId6"/>
    <p:sldId id="261" r:id="rId7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170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048658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C9FD60-D83C-42C1-97E1-DBD3BEFAB4D9}" type="datetimeFigureOut">
              <a:rPr lang="en-US" smtClean="0"/>
            </a:fld>
            <a:endParaRPr lang="en-US" dirty="0"/>
          </a:p>
        </p:txBody>
      </p:sp>
      <p:sp>
        <p:nvSpPr>
          <p:cNvPr id="1048659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p>
            <a:endParaRPr lang="en-US" dirty="0"/>
          </a:p>
        </p:txBody>
      </p:sp>
      <p:sp>
        <p:nvSpPr>
          <p:cNvPr id="104866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6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04866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4A68B4-6148-4144-A8D2-D3A06D9F5121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9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59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714A68B4-6148-4144-A8D2-D3A06D9F5121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0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60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4CA20D3-746F-4FBD-823C-F57494EEE2BF}" type="datetimeFigureOut">
              <a:rPr lang="en-US" smtClean="0"/>
            </a:fld>
            <a:endParaRPr lang="en-US" dirty="0"/>
          </a:p>
        </p:txBody>
      </p:sp>
      <p:sp>
        <p:nvSpPr>
          <p:cNvPr id="104860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60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C2FE7EF-855D-40D4-99F0-1402FE19311E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8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4CA20D3-746F-4FBD-823C-F57494EEE2BF}" type="datetimeFigureOut">
              <a:rPr lang="en-US" smtClean="0"/>
            </a:fld>
            <a:endParaRPr lang="en-US" dirty="0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C2FE7EF-855D-40D4-99F0-1402FE19311E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0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04863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4CA20D3-746F-4FBD-823C-F57494EEE2BF}" type="datetimeFigureOut">
              <a:rPr lang="en-US" smtClean="0"/>
            </a:fld>
            <a:endParaRPr lang="en-US" dirty="0"/>
          </a:p>
        </p:txBody>
      </p:sp>
      <p:sp>
        <p:nvSpPr>
          <p:cNvPr id="104863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63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C2FE7EF-855D-40D4-99F0-1402FE19311E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5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36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3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4CA20D3-746F-4FBD-823C-F57494EEE2BF}" type="datetimeFigureOut">
              <a:rPr lang="en-US" smtClean="0"/>
            </a:fld>
            <a:endParaRPr lang="en-US" dirty="0"/>
          </a:p>
        </p:txBody>
      </p:sp>
      <p:sp>
        <p:nvSpPr>
          <p:cNvPr id="104863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63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C2FE7EF-855D-40D4-99F0-1402FE19311E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1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048642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048644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5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4CA20D3-746F-4FBD-823C-F57494EEE2BF}" type="datetimeFigureOut">
              <a:rPr lang="en-US" smtClean="0"/>
            </a:fld>
            <a:endParaRPr lang="en-US" dirty="0"/>
          </a:p>
        </p:txBody>
      </p:sp>
      <p:sp>
        <p:nvSpPr>
          <p:cNvPr id="1048646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647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C2FE7EF-855D-40D4-99F0-1402FE19311E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0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4CA20D3-746F-4FBD-823C-F57494EEE2BF}" type="datetimeFigureOut">
              <a:rPr lang="en-US" smtClean="0"/>
            </a:fld>
            <a:endParaRPr lang="en-US" dirty="0"/>
          </a:p>
        </p:txBody>
      </p:sp>
      <p:sp>
        <p:nvSpPr>
          <p:cNvPr id="1048611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61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C2FE7EF-855D-40D4-99F0-1402FE19311E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4CA20D3-746F-4FBD-823C-F57494EEE2BF}" type="datetimeFigureOut">
              <a:rPr lang="en-US" smtClean="0"/>
            </a:fld>
            <a:endParaRPr lang="en-US" dirty="0"/>
          </a:p>
        </p:txBody>
      </p:sp>
      <p:sp>
        <p:nvSpPr>
          <p:cNvPr id="1048649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65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C2FE7EF-855D-40D4-99F0-1402FE19311E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0486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4CA20D3-746F-4FBD-823C-F57494EEE2BF}" type="datetimeFigureOut">
              <a:rPr lang="en-US" smtClean="0"/>
            </a:fld>
            <a:endParaRPr lang="en-US" dirty="0"/>
          </a:p>
        </p:txBody>
      </p:sp>
      <p:sp>
        <p:nvSpPr>
          <p:cNvPr id="10486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6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C2FE7EF-855D-40D4-99F0-1402FE19311E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104862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04862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4CA20D3-746F-4FBD-823C-F57494EEE2BF}" type="datetimeFigureOut">
              <a:rPr lang="en-US" smtClean="0"/>
            </a:fld>
            <a:endParaRPr lang="en-US" dirty="0"/>
          </a:p>
        </p:txBody>
      </p:sp>
      <p:sp>
        <p:nvSpPr>
          <p:cNvPr id="104862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62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C2FE7EF-855D-40D4-99F0-1402FE19311E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5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2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4CA20D3-746F-4FBD-823C-F57494EEE2BF}" type="datetimeFigureOut">
              <a:rPr lang="en-US" smtClean="0"/>
            </a:fld>
            <a:endParaRPr lang="en-US" dirty="0"/>
          </a:p>
        </p:txBody>
      </p:sp>
      <p:sp>
        <p:nvSpPr>
          <p:cNvPr id="104862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62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C2FE7EF-855D-40D4-99F0-1402FE19311E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4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1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4CA20D3-746F-4FBD-823C-F57494EEE2BF}" type="datetimeFigureOut">
              <a:rPr lang="en-US" smtClean="0"/>
            </a:fld>
            <a:endParaRPr lang="en-US" dirty="0"/>
          </a:p>
        </p:txBody>
      </p:sp>
      <p:sp>
        <p:nvSpPr>
          <p:cNvPr id="10486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6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C2FE7EF-855D-40D4-99F0-1402FE19311E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CA20D3-746F-4FBD-823C-F57494EEE2BF}" type="datetimeFigureOut">
              <a:rPr lang="en-US" smtClean="0"/>
            </a:fld>
            <a:endParaRPr lang="en-US" dirty="0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FE7EF-855D-40D4-99F0-1402FE19311E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4427220"/>
          </a:xfrm>
        </p:spPr>
        <p:txBody>
          <a:bodyPr>
            <a:normAutofit/>
          </a:bodyPr>
          <a:p>
            <a:r>
              <a:rPr lang="en-US" sz="5400" b="1" i="1" u="sng" dirty="0" smtClean="0"/>
              <a:t>Pet </a:t>
            </a:r>
            <a:r>
              <a:rPr lang="en-US" sz="5400" b="1" i="1" u="sng" dirty="0" smtClean="0"/>
              <a:t> feeder </a:t>
            </a:r>
            <a:r>
              <a:rPr lang="en-US" sz="5400" b="1" i="1" u="sng" dirty="0" smtClean="0"/>
              <a:t>using </a:t>
            </a:r>
            <a:r>
              <a:rPr lang="en-US" sz="5400" b="1" i="1" u="sng" dirty="0" err="1" smtClean="0"/>
              <a:t>IoT</a:t>
            </a:r>
            <a:endParaRPr lang="en-US" sz="5400" b="1" i="1" u="sng" dirty="0"/>
          </a:p>
        </p:txBody>
      </p:sp>
      <p:sp>
        <p:nvSpPr>
          <p:cNvPr id="1048587" name="Content Placeholder 2"/>
          <p:cNvSpPr>
            <a:spLocks noGrp="1"/>
          </p:cNvSpPr>
          <p:nvPr>
            <p:ph idx="1"/>
          </p:nvPr>
        </p:nvSpPr>
        <p:spPr>
          <a:xfrm>
            <a:off x="152400" y="-3428365"/>
            <a:ext cx="8229600" cy="5873750"/>
          </a:xfrm>
        </p:spPr>
        <p:txBody>
          <a:bodyPr>
            <a:normAutofit/>
          </a:bodyPr>
          <a:p>
            <a:pPr marL="0" indent="0">
              <a:buNone/>
            </a:pPr>
            <a:endParaRPr lang="en-US" dirty="0"/>
          </a:p>
        </p:txBody>
      </p:sp>
      <p:pic>
        <p:nvPicPr>
          <p:cNvPr id="2097152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85788" y="4114483"/>
            <a:ext cx="3333750" cy="137160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2097153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01591" y="2895600"/>
            <a:ext cx="2819400" cy="297180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sz="4800" b="1" i="1" u="sng" dirty="0"/>
              <a:t>C</a:t>
            </a:r>
            <a:r>
              <a:rPr lang="en-US" sz="4800" b="1" i="1" u="sng" dirty="0" smtClean="0"/>
              <a:t>omponents</a:t>
            </a:r>
            <a:endParaRPr lang="en-US" sz="4800" b="1" i="1" u="sng" dirty="0"/>
          </a:p>
        </p:txBody>
      </p:sp>
      <p:sp>
        <p:nvSpPr>
          <p:cNvPr id="104858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sz="4400" b="1" dirty="0" smtClean="0"/>
              <a:t>Power source(5 volt)</a:t>
            </a:r>
            <a:endParaRPr lang="en-US" sz="4400" b="1" dirty="0" smtClean="0"/>
          </a:p>
          <a:p>
            <a:r>
              <a:rPr lang="en-US" sz="4400" b="1" dirty="0" smtClean="0"/>
              <a:t>Servo motor sg90</a:t>
            </a:r>
            <a:endParaRPr lang="en-US" sz="4400" b="1" dirty="0" smtClean="0"/>
          </a:p>
          <a:p>
            <a:r>
              <a:rPr lang="en-US" sz="4400" b="1" dirty="0" smtClean="0"/>
              <a:t>LCD display 1602 module</a:t>
            </a:r>
            <a:endParaRPr lang="en-US" sz="4400" b="1" dirty="0" smtClean="0"/>
          </a:p>
          <a:p>
            <a:r>
              <a:rPr lang="en-US" sz="4400" b="1" dirty="0" smtClean="0"/>
              <a:t>Arduino nano</a:t>
            </a:r>
            <a:endParaRPr lang="en-US" sz="4400" b="1" dirty="0" smtClean="0"/>
          </a:p>
          <a:p>
            <a:r>
              <a:rPr lang="en-US" sz="4400" b="1" dirty="0" smtClean="0"/>
              <a:t>ESP8266 </a:t>
            </a:r>
            <a:r>
              <a:rPr lang="en-US" sz="4400" b="1" dirty="0" smtClean="0"/>
              <a:t>W</a:t>
            </a:r>
            <a:r>
              <a:rPr lang="en-US" sz="4400" b="1" dirty="0" smtClean="0"/>
              <a:t>i-Fi </a:t>
            </a:r>
            <a:r>
              <a:rPr lang="en-US" sz="4400" b="1" dirty="0" smtClean="0"/>
              <a:t>module</a:t>
            </a:r>
            <a:endParaRPr lang="en-US" sz="44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Rectangle 1"/>
          <p:cNvSpPr>
            <a:spLocks noChangeArrowheads="1"/>
          </p:cNvSpPr>
          <p:nvPr/>
        </p:nvSpPr>
        <p:spPr bwMode="auto">
          <a:xfrm>
            <a:off x="512618" y="479071"/>
            <a:ext cx="4059382" cy="408557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square" lIns="120612" tIns="1026789" rIns="0" bIns="1026789" numCol="1" anchor="ctr" anchorCtr="0" compatLnSpc="1">
            <a:spAutoFit/>
          </a:bodyPr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Open Sans"/>
                <a:cs typeface="Arial" panose="020B0604020202020204" pitchFamily="34" charset="0"/>
              </a:rPr>
              <a:t> </a:t>
            </a:r>
            <a:endParaRPr kumimoji="0" lang="en-US" sz="1600" b="1" i="0" u="none" strike="noStrike" cap="none" normalizeH="0" baseline="0" dirty="0" smtClean="0">
              <a:ln>
                <a:noFill/>
              </a:ln>
              <a:solidFill>
                <a:srgbClr val="111111"/>
              </a:solidFill>
              <a:effectLst/>
              <a:latin typeface="Montserrat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Open Sans"/>
                <a:cs typeface="Arial" panose="020B0604020202020204" pitchFamily="34" charset="0"/>
              </a:rPr>
              <a:t>Operating Voltage is +5V typically</a:t>
            </a:r>
            <a:endParaRPr kumimoji="0" lang="en-US" sz="1600" b="1" i="0" u="none" strike="noStrike" cap="none" normalizeH="0" baseline="0" dirty="0" smtClean="0">
              <a:ln>
                <a:noFill/>
              </a:ln>
              <a:solidFill>
                <a:srgbClr val="303030"/>
              </a:solidFill>
              <a:effectLst/>
              <a:latin typeface="Open Sans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Open Sans"/>
                <a:cs typeface="Arial" panose="020B0604020202020204" pitchFamily="34" charset="0"/>
              </a:rPr>
              <a:t>Torque: 2.5kg/cm</a:t>
            </a:r>
            <a:endParaRPr kumimoji="0" lang="en-US" sz="1600" b="1" i="0" u="none" strike="noStrike" cap="none" normalizeH="0" baseline="0" dirty="0" smtClean="0">
              <a:ln>
                <a:noFill/>
              </a:ln>
              <a:solidFill>
                <a:srgbClr val="303030"/>
              </a:solidFill>
              <a:effectLst/>
              <a:latin typeface="Open Sans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Open Sans"/>
                <a:cs typeface="Arial" panose="020B0604020202020204" pitchFamily="34" charset="0"/>
              </a:rPr>
              <a:t>Operating speed is 0.1s/60°</a:t>
            </a:r>
            <a:endParaRPr kumimoji="0" lang="en-US" sz="1600" b="1" i="0" u="none" strike="noStrike" cap="none" normalizeH="0" baseline="0" dirty="0" smtClean="0">
              <a:ln>
                <a:noFill/>
              </a:ln>
              <a:solidFill>
                <a:srgbClr val="303030"/>
              </a:solidFill>
              <a:effectLst/>
              <a:latin typeface="Open Sans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Open Sans"/>
                <a:cs typeface="Arial" panose="020B0604020202020204" pitchFamily="34" charset="0"/>
              </a:rPr>
              <a:t>Gear Type: Plastic</a:t>
            </a:r>
            <a:endParaRPr kumimoji="0" lang="en-US" sz="1600" b="1" i="0" u="none" strike="noStrike" cap="none" normalizeH="0" baseline="0" dirty="0" smtClean="0">
              <a:ln>
                <a:noFill/>
              </a:ln>
              <a:solidFill>
                <a:srgbClr val="303030"/>
              </a:solidFill>
              <a:effectLst/>
              <a:latin typeface="Open Sans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Open Sans"/>
                <a:cs typeface="Arial" panose="020B0604020202020204" pitchFamily="34" charset="0"/>
              </a:rPr>
              <a:t>Rotation : 0°-180°</a:t>
            </a:r>
            <a:endParaRPr kumimoji="0" lang="en-US" sz="1600" b="1" i="0" u="none" strike="noStrike" cap="none" normalizeH="0" baseline="0" dirty="0" smtClean="0">
              <a:ln>
                <a:noFill/>
              </a:ln>
              <a:solidFill>
                <a:srgbClr val="303030"/>
              </a:solidFill>
              <a:effectLst/>
              <a:latin typeface="Open Sans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Open Sans"/>
                <a:cs typeface="Arial" panose="020B0604020202020204" pitchFamily="34" charset="0"/>
              </a:rPr>
              <a:t>Weight of motor : 9gm</a:t>
            </a:r>
            <a:endParaRPr kumimoji="0" lang="en-US" sz="1600" b="1" i="0" u="none" strike="noStrike" cap="none" normalizeH="0" baseline="0" dirty="0" smtClean="0">
              <a:ln>
                <a:noFill/>
              </a:ln>
              <a:solidFill>
                <a:srgbClr val="303030"/>
              </a:solidFill>
              <a:effectLst/>
              <a:latin typeface="Open Sans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Open Sans"/>
                <a:cs typeface="Arial" panose="020B0604020202020204" pitchFamily="34" charset="0"/>
              </a:rPr>
              <a:t> 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rgbClr val="111111"/>
              </a:solidFill>
              <a:effectLst/>
              <a:latin typeface="Montserrat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8591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sz="4800" b="1" i="1" u="sng" dirty="0" smtClean="0"/>
              <a:t>Servo Motor sg90</a:t>
            </a:r>
            <a:endParaRPr lang="en-US" sz="4800" b="1" i="1" u="sng" dirty="0"/>
          </a:p>
        </p:txBody>
      </p:sp>
      <p:graphicFrame>
        <p:nvGraphicFramePr>
          <p:cNvPr id="4194304" name="Content Placeholder 3"/>
          <p:cNvGraphicFramePr>
            <a:graphicFrameLocks noGrp="1"/>
          </p:cNvGraphicFramePr>
          <p:nvPr>
            <p:ph idx="1"/>
          </p:nvPr>
        </p:nvGraphicFramePr>
        <p:xfrm>
          <a:off x="980281" y="3429000"/>
          <a:ext cx="7181850" cy="2819400"/>
        </p:xfrm>
        <a:graphic>
          <a:graphicData uri="http://schemas.openxmlformats.org/drawingml/2006/table">
            <a:tbl>
              <a:tblPr/>
              <a:tblGrid>
                <a:gridCol w="1185837"/>
                <a:gridCol w="1541743"/>
                <a:gridCol w="4454270"/>
              </a:tblGrid>
              <a:tr h="531367">
                <a:tc>
                  <a:txBody>
                    <a:bodyPr/>
                    <a:p>
                      <a:pPr algn="ctr" fontAlgn="t">
                        <a:spcAft>
                          <a:spcPts val="0"/>
                        </a:spcAft>
                      </a:pPr>
                      <a:r>
                        <a:rPr lang="en-US" b="1" dirty="0">
                          <a:effectLst/>
                        </a:rPr>
                        <a:t>Wire Number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t">
                        <a:spcAft>
                          <a:spcPts val="0"/>
                        </a:spcAft>
                      </a:pPr>
                      <a:r>
                        <a:rPr lang="en-US" b="1" dirty="0">
                          <a:effectLst/>
                        </a:rPr>
                        <a:t>Wire Colour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t">
                        <a:spcAft>
                          <a:spcPts val="0"/>
                        </a:spcAft>
                      </a:pPr>
                      <a:r>
                        <a:rPr lang="en-US" b="1" dirty="0">
                          <a:effectLst/>
                        </a:rPr>
                        <a:t>Description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1367">
                <a:tc>
                  <a:txBody>
                    <a:bodyPr/>
                    <a:p>
                      <a:pPr algn="ctr" fontAlgn="t">
                        <a:spcAft>
                          <a:spcPts val="0"/>
                        </a:spcAft>
                      </a:pPr>
                      <a:r>
                        <a:rPr lang="en-US" dirty="0">
                          <a:effectLst/>
                        </a:rPr>
                        <a:t>1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t">
                        <a:spcAft>
                          <a:spcPts val="0"/>
                        </a:spcAft>
                      </a:pPr>
                      <a:r>
                        <a:rPr lang="en-US" dirty="0">
                          <a:effectLst/>
                        </a:rPr>
                        <a:t>Brown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t">
                        <a:spcAft>
                          <a:spcPts val="0"/>
                        </a:spcAft>
                      </a:pPr>
                      <a:r>
                        <a:rPr lang="en-US" dirty="0">
                          <a:effectLst/>
                        </a:rPr>
                        <a:t>Ground wire connected to the ground of system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0520">
                <a:tc>
                  <a:txBody>
                    <a:bodyPr/>
                    <a:p>
                      <a:pPr algn="ctr" fontAlgn="t">
                        <a:spcAft>
                          <a:spcPts val="0"/>
                        </a:spcAft>
                      </a:pPr>
                      <a:r>
                        <a:rPr lang="en-US" dirty="0">
                          <a:effectLst/>
                        </a:rPr>
                        <a:t>2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t">
                        <a:spcAft>
                          <a:spcPts val="0"/>
                        </a:spcAft>
                      </a:pPr>
                      <a:r>
                        <a:rPr lang="en-US" dirty="0">
                          <a:effectLst/>
                        </a:rPr>
                        <a:t>Red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t">
                        <a:spcAft>
                          <a:spcPts val="0"/>
                        </a:spcAft>
                      </a:pPr>
                      <a:r>
                        <a:rPr lang="en-US" dirty="0">
                          <a:effectLst/>
                        </a:rPr>
                        <a:t>Powers the motor typically +5V is used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0600">
                <a:tc>
                  <a:txBody>
                    <a:bodyPr/>
                    <a:p>
                      <a:pPr algn="ctr" fontAlgn="t">
                        <a:spcAft>
                          <a:spcPts val="0"/>
                        </a:spcAft>
                      </a:pPr>
                      <a:r>
                        <a:rPr lang="en-US" dirty="0">
                          <a:effectLst/>
                        </a:rPr>
                        <a:t>3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t">
                        <a:spcAft>
                          <a:spcPts val="0"/>
                        </a:spcAft>
                      </a:pPr>
                      <a:r>
                        <a:rPr lang="en-US" dirty="0">
                          <a:effectLst/>
                        </a:rPr>
                        <a:t>Orange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t">
                        <a:spcAft>
                          <a:spcPts val="0"/>
                        </a:spcAft>
                      </a:pPr>
                      <a:r>
                        <a:rPr lang="en-US" dirty="0">
                          <a:effectLst/>
                        </a:rPr>
                        <a:t>PWM signal is given in through this wire to drive the motor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097154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181600" y="1409700"/>
            <a:ext cx="3097213" cy="160020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/>
          </a:bodyPr>
          <a:p>
            <a:r>
              <a:rPr lang="en-US" sz="4800" b="1" i="1" u="sng" dirty="0" smtClean="0"/>
              <a:t>LCD Display 1602 Module</a:t>
            </a:r>
            <a:endParaRPr lang="en-US" sz="4800" b="1" i="1" u="sng" dirty="0"/>
          </a:p>
        </p:txBody>
      </p:sp>
      <p:pic>
        <p:nvPicPr>
          <p:cNvPr id="209715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 bwMode="auto">
          <a:xfrm rot="5400000">
            <a:off x="5310339" y="2496697"/>
            <a:ext cx="4554630" cy="222130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2097156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1295400"/>
            <a:ext cx="5791200" cy="4631524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7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305550" y="1066800"/>
            <a:ext cx="2838450" cy="314325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048593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sz="4800" b="1" i="1" u="sng" dirty="0" smtClean="0"/>
              <a:t>Arduino Nano</a:t>
            </a:r>
            <a:endParaRPr lang="en-US" sz="4800" b="1" i="1" u="sng" dirty="0"/>
          </a:p>
        </p:txBody>
      </p:sp>
      <p:sp>
        <p:nvSpPr>
          <p:cNvPr id="1048594" name="Content Placeholder 2"/>
          <p:cNvSpPr>
            <a:spLocks noGrp="1"/>
          </p:cNvSpPr>
          <p:nvPr>
            <p:ph idx="1"/>
          </p:nvPr>
        </p:nvSpPr>
        <p:spPr>
          <a:xfrm>
            <a:off x="381000" y="1524000"/>
            <a:ext cx="8229600" cy="4525963"/>
          </a:xfrm>
        </p:spPr>
        <p:txBody>
          <a:bodyPr>
            <a:normAutofit/>
          </a:bodyPr>
          <a:p>
            <a:r>
              <a:rPr lang="en-US" sz="1800" dirty="0"/>
              <a:t>Microcontroller Atmel ATmega168 or ATmega328</a:t>
            </a:r>
            <a:endParaRPr lang="en-US" sz="1800" dirty="0"/>
          </a:p>
          <a:p>
            <a:r>
              <a:rPr lang="en-US" sz="1800" dirty="0"/>
              <a:t>Operating Voltage: (logic level) 5 V</a:t>
            </a:r>
            <a:endParaRPr lang="en-US" sz="1800" dirty="0"/>
          </a:p>
          <a:p>
            <a:r>
              <a:rPr lang="en-US" sz="1800" dirty="0"/>
              <a:t>Input Voltage: (recommended) 7-12 V</a:t>
            </a:r>
            <a:endParaRPr lang="en-US" sz="1800" dirty="0"/>
          </a:p>
          <a:p>
            <a:r>
              <a:rPr lang="en-US" sz="1800" dirty="0"/>
              <a:t>Input Voltage: (limits) 6-20 V</a:t>
            </a:r>
            <a:endParaRPr lang="en-US" sz="1800" dirty="0"/>
          </a:p>
          <a:p>
            <a:r>
              <a:rPr lang="en-US" sz="1800" dirty="0"/>
              <a:t>Digital I/O Pins: 14 (of which 6 provide PWM output)</a:t>
            </a:r>
            <a:endParaRPr lang="en-US" sz="1800" dirty="0"/>
          </a:p>
          <a:p>
            <a:r>
              <a:rPr lang="en-US" sz="1800" dirty="0"/>
              <a:t>Analog Input Pins: 8</a:t>
            </a:r>
            <a:endParaRPr lang="en-US" sz="1800" dirty="0"/>
          </a:p>
          <a:p>
            <a:r>
              <a:rPr lang="en-US" sz="1800" dirty="0"/>
              <a:t>DC Current per I/O Pin: 40 mA</a:t>
            </a:r>
            <a:endParaRPr lang="en-US" sz="1800" dirty="0"/>
          </a:p>
          <a:p>
            <a:r>
              <a:rPr lang="en-US" sz="1800" dirty="0"/>
              <a:t>Flash Memory: 16 KB (ATmega168) or 32 KB (ATmega328) of which </a:t>
            </a:r>
            <a:r>
              <a:rPr lang="en-US" sz="1800" dirty="0" smtClean="0"/>
              <a:t>                              2 </a:t>
            </a:r>
            <a:r>
              <a:rPr lang="en-US" sz="1800" dirty="0"/>
              <a:t>KB used </a:t>
            </a:r>
            <a:r>
              <a:rPr lang="en-US" sz="1800" dirty="0" smtClean="0"/>
              <a:t>by bootloader.</a:t>
            </a:r>
            <a:endParaRPr lang="en-US" sz="1800" dirty="0"/>
          </a:p>
          <a:p>
            <a:r>
              <a:rPr lang="en-US" sz="1800" dirty="0"/>
              <a:t>SRAM: 1 KB (ATmega168) or 2 KB (ATmega328)</a:t>
            </a:r>
            <a:endParaRPr lang="en-US" sz="1800" dirty="0"/>
          </a:p>
          <a:p>
            <a:r>
              <a:rPr lang="en-US" sz="1800" dirty="0"/>
              <a:t>EEPROM: 512 bytes (ATmega168) or 1 KB (ATmega328)</a:t>
            </a:r>
            <a:endParaRPr lang="en-US" sz="1800" dirty="0"/>
          </a:p>
          <a:p>
            <a:r>
              <a:rPr lang="en-US" sz="1800" dirty="0"/>
              <a:t>Clock Speed: 16 MHz</a:t>
            </a:r>
            <a:endParaRPr lang="en-US" sz="1800" dirty="0"/>
          </a:p>
          <a:p>
            <a:r>
              <a:rPr lang="en-US" sz="1800" dirty="0"/>
              <a:t>Dimensions: 0.73" x 1.70"</a:t>
            </a:r>
            <a:endParaRPr lang="en-US" sz="1800" dirty="0"/>
          </a:p>
          <a:p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sz="4800" b="1" i="1" u="sng" dirty="0" smtClean="0"/>
              <a:t>ESP8266 Wi-Fi Module</a:t>
            </a:r>
            <a:endParaRPr lang="en-US" sz="4800" b="1" i="1" u="sng" dirty="0"/>
          </a:p>
        </p:txBody>
      </p:sp>
      <p:pic>
        <p:nvPicPr>
          <p:cNvPr id="2097158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715000" y="2133600"/>
            <a:ext cx="2857500" cy="28575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04859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sz="2800" dirty="0"/>
              <a:t>VCC, Voltage (+3.3 V; can handle up to 3.6 V)</a:t>
            </a:r>
            <a:endParaRPr lang="en-US" sz="2800" dirty="0"/>
          </a:p>
          <a:p>
            <a:r>
              <a:rPr lang="en-US" sz="2800" dirty="0"/>
              <a:t>GND, Ground (0 V)</a:t>
            </a:r>
            <a:endParaRPr lang="en-US" sz="2800" dirty="0"/>
          </a:p>
          <a:p>
            <a:r>
              <a:rPr lang="en-US" sz="2800" dirty="0"/>
              <a:t>RX, Receive data bit X</a:t>
            </a:r>
            <a:endParaRPr lang="en-US" sz="2800" dirty="0"/>
          </a:p>
          <a:p>
            <a:r>
              <a:rPr lang="en-US" sz="2800" dirty="0"/>
              <a:t>TX, Transmit data bit X</a:t>
            </a:r>
            <a:endParaRPr lang="en-US" sz="2800" dirty="0"/>
          </a:p>
          <a:p>
            <a:r>
              <a:rPr lang="en-US" sz="2800" dirty="0"/>
              <a:t>CH_PD, Chip power-down</a:t>
            </a:r>
            <a:endParaRPr lang="en-US" sz="2800" dirty="0"/>
          </a:p>
          <a:p>
            <a:r>
              <a:rPr lang="en-US" sz="2800" dirty="0"/>
              <a:t>RST, Reset</a:t>
            </a:r>
            <a:endParaRPr lang="en-US" sz="2800" dirty="0"/>
          </a:p>
          <a:p>
            <a:r>
              <a:rPr lang="en-US" sz="2800" dirty="0"/>
              <a:t>GPIO 0, General-purpose input/output No. 0</a:t>
            </a:r>
            <a:endParaRPr lang="en-US" sz="2800" dirty="0"/>
          </a:p>
          <a:p>
            <a:r>
              <a:rPr lang="en-US" sz="2800" dirty="0"/>
              <a:t>GPIO 2, General-purpose input/output No. 2</a:t>
            </a:r>
            <a:endParaRPr lang="en-US" sz="28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sz="4800" b="1" i="1" u="sng" dirty="0" smtClean="0"/>
              <a:t>Advantages</a:t>
            </a:r>
            <a:endParaRPr lang="en-US" sz="4800" b="1" i="1" u="sng" dirty="0"/>
          </a:p>
        </p:txBody>
      </p:sp>
      <p:sp>
        <p:nvSpPr>
          <p:cNvPr id="1048601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95300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It has two modes: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</a:t>
            </a:r>
            <a:r>
              <a:rPr lang="en-US" b="1" dirty="0" smtClean="0"/>
              <a:t>Automatic</a:t>
            </a:r>
            <a:r>
              <a:rPr lang="en-US" dirty="0" smtClean="0"/>
              <a:t> mode and  </a:t>
            </a:r>
            <a:r>
              <a:rPr lang="en-US" b="1" dirty="0" smtClean="0"/>
              <a:t>Manual </a:t>
            </a:r>
            <a:r>
              <a:rPr lang="en-US" dirty="0" smtClean="0"/>
              <a:t>mode.</a:t>
            </a:r>
            <a:endParaRPr lang="en-US" dirty="0" smtClean="0"/>
          </a:p>
          <a:p>
            <a:r>
              <a:rPr lang="en-US" dirty="0" smtClean="0"/>
              <a:t>Automatic mode: As per the time programmed it operates automatically.</a:t>
            </a:r>
            <a:endParaRPr lang="en-US" dirty="0" smtClean="0"/>
          </a:p>
          <a:p>
            <a:r>
              <a:rPr lang="en-US" dirty="0" smtClean="0"/>
              <a:t>Manual mode: It can be controlled using phone via internet even from a long distance using the command “</a:t>
            </a:r>
            <a:r>
              <a:rPr lang="en-US" b="1" dirty="0" smtClean="0"/>
              <a:t>FEED</a:t>
            </a:r>
            <a:r>
              <a:rPr lang="en-US" dirty="0" smtClean="0"/>
              <a:t>”.</a:t>
            </a:r>
            <a:endParaRPr lang="en-US" dirty="0" smtClean="0"/>
          </a:p>
          <a:p>
            <a:r>
              <a:rPr lang="en-US" dirty="0" smtClean="0"/>
              <a:t>The mode can be toggled by using the commands “</a:t>
            </a:r>
            <a:r>
              <a:rPr lang="en-US" b="1" dirty="0" smtClean="0"/>
              <a:t>AUTO</a:t>
            </a:r>
            <a:r>
              <a:rPr lang="en-US" dirty="0" smtClean="0"/>
              <a:t>” and “</a:t>
            </a:r>
            <a:r>
              <a:rPr lang="en-US" b="1" dirty="0" smtClean="0"/>
              <a:t>MANUAL</a:t>
            </a:r>
            <a:r>
              <a:rPr lang="en-US" dirty="0" smtClean="0"/>
              <a:t>”.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Title 1"/>
          <p:cNvSpPr>
            <a:spLocks noGrp="1"/>
          </p:cNvSpPr>
          <p:nvPr>
            <p:ph type="ctrTitle"/>
          </p:nvPr>
        </p:nvSpPr>
        <p:spPr>
          <a:xfrm>
            <a:off x="685800" y="2819400"/>
            <a:ext cx="7772400" cy="1600200"/>
          </a:xfrm>
        </p:spPr>
        <p:txBody>
          <a:bodyPr>
            <a:noAutofit/>
          </a:bodyPr>
          <a:p>
            <a:r>
              <a:rPr lang="en-US" sz="9600" b="1" i="1" dirty="0" smtClean="0"/>
              <a:t>Thank you!!</a:t>
            </a:r>
            <a:endParaRPr lang="en-US" sz="9600" b="1" i="1" dirty="0"/>
          </a:p>
        </p:txBody>
      </p:sp>
      <p:sp>
        <p:nvSpPr>
          <p:cNvPr id="1048608" name="Subtitle 2"/>
          <p:cNvSpPr>
            <a:spLocks noGrp="1"/>
          </p:cNvSpPr>
          <p:nvPr>
            <p:ph type="subTitle" idx="1"/>
          </p:nvPr>
        </p:nvSpPr>
        <p:spPr>
          <a:xfrm>
            <a:off x="1371600" y="5562600"/>
            <a:ext cx="6400800" cy="76200"/>
          </a:xfrm>
        </p:spPr>
        <p:txBody>
          <a:bodyPr>
            <a:normAutofit fontScale="25000" lnSpcReduction="20000"/>
          </a:bodyPr>
          <a:p>
            <a:endParaRPr lang="en-US" dirty="0"/>
          </a:p>
        </p:txBody>
      </p:sp>
      <p:pic>
        <p:nvPicPr>
          <p:cNvPr id="2097159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500870" y="685800"/>
            <a:ext cx="2143125" cy="214312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1569</Words>
  <Application>WPS Presentation</Application>
  <PresentationFormat/>
  <Paragraphs>86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Arial</vt:lpstr>
      <vt:lpstr>SimSun</vt:lpstr>
      <vt:lpstr>Wingdings</vt:lpstr>
      <vt:lpstr>Open Sans</vt:lpstr>
      <vt:lpstr>Segoe Print</vt:lpstr>
      <vt:lpstr>Montserrat</vt:lpstr>
      <vt:lpstr>Calibri</vt:lpstr>
      <vt:lpstr>Microsoft YaHei</vt:lpstr>
      <vt:lpstr>Arial Unicode MS</vt:lpstr>
      <vt:lpstr>Office Theme</vt:lpstr>
      <vt:lpstr>Pet  feeder using IoT</vt:lpstr>
      <vt:lpstr>Components</vt:lpstr>
      <vt:lpstr>Servo Motor sg90</vt:lpstr>
      <vt:lpstr>LCD Display 1602 Module</vt:lpstr>
      <vt:lpstr>Arduino Nano</vt:lpstr>
      <vt:lpstr>ESP8266 Wi-Fi Module</vt:lpstr>
      <vt:lpstr>Advantages</vt:lpstr>
      <vt:lpstr>Thank you!!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  feeder using IoT</dc:title>
  <dc:creator>Christopher</dc:creator>
  <cp:lastModifiedBy>yuvas</cp:lastModifiedBy>
  <cp:revision>1</cp:revision>
  <dcterms:created xsi:type="dcterms:W3CDTF">2026-05-09T07:51:36Z</dcterms:created>
  <dcterms:modified xsi:type="dcterms:W3CDTF">2026-05-09T07:51:36Z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21B5BE1F64C442EA8B4FD1185A32AE1D_13</vt:lpwstr>
  </property>
  <property fmtid="{D5CDD505-2E9C-101B-9397-08002B2CF9AE}" pid="3" name="KSOProductBuildVer">
    <vt:lpwstr>2057-12.2.0.23202</vt:lpwstr>
  </property>
</Properties>
</file>